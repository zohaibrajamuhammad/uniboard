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Academic Collaboration Is Broken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550408" y="1005840"/>
            <a:ext cx="1097280" cy="0"/>
          </a:xfrm>
          <a:prstGeom prst="line">
            <a:avLst/>
          </a:prstGeom>
          <a:noFill/>
          <a:ln w="12700">
            <a:solidFill>
              <a:srgbClr val="3A86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029200" cy="960120"/>
          </a:xfrm>
          <a:prstGeom prst="roundRect">
            <a:avLst>
              <a:gd name="adj" fmla="val 9524"/>
            </a:avLst>
          </a:prstGeom>
          <a:solidFill>
            <a:srgbClr val="1E3048"/>
          </a:solidFill>
          <a:ln w="12700">
            <a:solidFill>
              <a:srgbClr val="1E3048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87452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say group projects lack clear structure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5029200" cy="960120"/>
          </a:xfrm>
          <a:prstGeom prst="roundRect">
            <a:avLst>
              <a:gd name="adj" fmla="val 9524"/>
            </a:avLst>
          </a:prstGeom>
          <a:solidFill>
            <a:srgbClr val="1E3048"/>
          </a:solidFill>
          <a:ln w="12700">
            <a:solidFill>
              <a:srgbClr val="1E3048"/>
            </a:solidFill>
            <a:prstDash val="solid"/>
          </a:ln>
          <a:effectLst>
            <a:outerShdw sx="100000" sy="100000" kx="0" ky="0" algn="bl" rotWithShape="0" blurRad="483870000" dist="322580000" dir="162000000000">
              <a:srgbClr val="000000">
                <a:alpha val="25000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9718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60+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1737360" y="30632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 across a typical university ecosystem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977640"/>
            <a:ext cx="5029200" cy="960120"/>
          </a:xfrm>
          <a:prstGeom prst="roundRect">
            <a:avLst>
              <a:gd name="adj" fmla="val 9524"/>
            </a:avLst>
          </a:prstGeom>
          <a:solidFill>
            <a:srgbClr val="1E3048"/>
          </a:solidFill>
          <a:ln w="12700">
            <a:solidFill>
              <a:srgbClr val="1E3048"/>
            </a:solidFill>
            <a:prstDash val="solid"/>
          </a:ln>
          <a:effectLst>
            <a:outerShdw sx="100000" sy="100000" kx="0" ky="0" algn="bl" rotWithShape="0" blurRad="6145149000000" dist="4096766000000" dir="9720000000000000">
              <a:srgbClr val="000000">
                <a:alpha val="25000000000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40690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A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4.2hrs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1737360" y="4160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per student weekly chasing deadlines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5102352"/>
            <a:ext cx="274320" cy="27432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50749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space for discussion + files + deadlines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5449824"/>
            <a:ext cx="274320" cy="27432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542239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Professors can't track struggling students in real time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5797296"/>
            <a:ext cx="274320" cy="27432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" y="57698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guidance when students are stuck at 2 AM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6144768"/>
            <a:ext cx="274320" cy="27432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61173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from past semesters never reused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732520" y="2926080"/>
            <a:ext cx="640080" cy="640080"/>
          </a:xfrm>
          <a:prstGeom prst="ellipse">
            <a:avLst/>
          </a:prstGeom>
          <a:solidFill>
            <a:srgbClr val="1E3048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59952" y="3163824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52560" y="3246120"/>
            <a:ext cx="228600" cy="-16687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137160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33415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1481328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52560" y="3246120"/>
            <a:ext cx="1783080" cy="-10287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32720" y="201168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33415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32720" y="2121408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052560" y="3246120"/>
            <a:ext cx="1874520" cy="5257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424160" y="35661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33415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24160" y="3675888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52560" y="3246120"/>
            <a:ext cx="228600" cy="13487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0" y="438912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33415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0" y="4498848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052560" y="3246120"/>
            <a:ext cx="-1600200" cy="5257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49440" y="356616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33415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3675888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52560" y="3246120"/>
            <a:ext cx="-1691640" cy="-102870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2011680"/>
            <a:ext cx="1005840" cy="411480"/>
          </a:xfrm>
          <a:prstGeom prst="roundRect">
            <a:avLst>
              <a:gd name="adj" fmla="val 17778"/>
            </a:avLst>
          </a:prstGeom>
          <a:solidFill>
            <a:srgbClr val="33415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2121408"/>
            <a:ext cx="10058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858000" y="1371600"/>
            <a:ext cx="3931920" cy="3383280"/>
          </a:xfrm>
          <a:prstGeom prst="line">
            <a:avLst/>
          </a:prstGeom>
          <a:noFill/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789920" y="1371600"/>
            <a:ext cx="-3931920" cy="3383280"/>
          </a:xfrm>
          <a:prstGeom prst="line">
            <a:avLst/>
          </a:prstGeom>
          <a:noFill/>
          <a:ln w="1270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83680" y="6355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juggles 6+ disconnected tools. Nothing talks to anything.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Meet UniBoard AI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550408" y="1005840"/>
            <a:ext cx="1097280" cy="0"/>
          </a:xfrm>
          <a:prstGeom prst="line">
            <a:avLst/>
          </a:prstGeom>
          <a:noFill/>
          <a:ln w="12700">
            <a:solidFill>
              <a:srgbClr val="3A8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143000"/>
            <a:ext cx="10332720" cy="1143000"/>
          </a:xfrm>
          <a:prstGeom prst="roundRect">
            <a:avLst>
              <a:gd name="adj" fmla="val 12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78043392300000000" dist="52028928200000000" dir="583200000000000000000">
              <a:srgbClr val="000000">
                <a:alpha val="250000000000000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34440" y="149047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intelligent platform where students collaborate, professors oversee, and AI assists — all in real time.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991151082210000000000" dist="660767388140000000000" dir="3.4992e+25">
              <a:srgbClr val="000000">
                <a:alpha val="2.5e+2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514600"/>
            <a:ext cx="548640" cy="54864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Students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1792" y="3246120"/>
            <a:ext cx="274320" cy="27432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2186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writing assistant in every discussion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" y="3758184"/>
            <a:ext cx="274320" cy="27432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7307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deadline reminders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" y="4270248"/>
            <a:ext cx="274320" cy="27432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2428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knowledge base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" y="4782312"/>
            <a:ext cx="274320" cy="27432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7548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group workspaces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53128" y="246888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1.2587618744067e+25" dist="8.391745829378e+24" dir="2.09952e+30">
              <a:srgbClr val="000000">
                <a:alpha val="2.5000000000000004e+29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18888" y="2514600"/>
            <a:ext cx="548640" cy="5486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58968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Professors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617720" y="3246120"/>
            <a:ext cx="274320" cy="27432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32186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engagement analytics per room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3758184"/>
            <a:ext cx="274320" cy="27432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37307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room summaries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4270248"/>
            <a:ext cx="274320" cy="27432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01768" y="42428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risk alerts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17720" y="4782312"/>
            <a:ext cx="274320" cy="27432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1768" y="47548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dashboard for all course rooms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39912" y="246888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1.598627580496509e+29" dist="1.0657517203310059e+29" dir="1.259712e+35">
              <a:srgbClr val="000000">
                <a:alpha val="2.5000000000000004e+3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805672" y="2514600"/>
            <a:ext cx="548640" cy="54864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45752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Institutions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604504" y="3246120"/>
            <a:ext cx="274320" cy="27432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88552" y="32186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academic data not chat noise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604504" y="3758184"/>
            <a:ext cx="274320" cy="27432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88552" y="37307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knowledge preserved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604504" y="4270248"/>
            <a:ext cx="274320" cy="27432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88552" y="42428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tool subscriptions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604504" y="4782312"/>
            <a:ext cx="274320" cy="27432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88552" y="47548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10 to 10,000 students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Convex (real-time backend) + Anthropic Claude AI (claude-sonnet-4-20250514)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UniBoard AI Is Built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550408" y="1005840"/>
            <a:ext cx="1097280" cy="0"/>
          </a:xfrm>
          <a:prstGeom prst="line">
            <a:avLst/>
          </a:prstGeom>
          <a:noFill/>
          <a:ln w="12700">
            <a:solidFill>
              <a:srgbClr val="3A8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1371600"/>
            <a:ext cx="2194560" cy="594360"/>
          </a:xfrm>
          <a:prstGeom prst="roundRect">
            <a:avLst>
              <a:gd name="adj" fmla="val 15385"/>
            </a:avLst>
          </a:prstGeom>
          <a:solidFill>
            <a:srgbClr val="1E3048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2.0302570272305663e+33" dist="1.3535046848203775e+33" dir="7.558272e+39">
              <a:srgbClr val="000000">
                <a:alpha val="2.5000000000000004e+3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1591056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0" y="1965960"/>
            <a:ext cx="0" cy="274320"/>
          </a:xfrm>
          <a:prstGeom prst="line">
            <a:avLst/>
          </a:prstGeom>
          <a:noFill/>
          <a:ln w="12700">
            <a:solidFill>
              <a:srgbClr val="3A86FF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001768" y="1371600"/>
            <a:ext cx="2194560" cy="594360"/>
          </a:xfrm>
          <a:prstGeom prst="roundRect">
            <a:avLst>
              <a:gd name="adj" fmla="val 15385"/>
            </a:avLst>
          </a:prstGeom>
          <a:solidFill>
            <a:srgbClr val="1E3048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2.578426424582819e+37" dist="1.7189509497218795e+37" dir="4.5349632000000006e+44">
              <a:srgbClr val="000000">
                <a:alpha val="2.5000000000000002e+4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01768" y="1591056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9048" y="1965960"/>
            <a:ext cx="0" cy="274320"/>
          </a:xfrm>
          <a:prstGeom prst="line">
            <a:avLst/>
          </a:prstGeom>
          <a:noFill/>
          <a:ln w="12700">
            <a:solidFill>
              <a:srgbClr val="3A86F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439912" y="1371600"/>
            <a:ext cx="2194560" cy="594360"/>
          </a:xfrm>
          <a:prstGeom prst="roundRect">
            <a:avLst>
              <a:gd name="adj" fmla="val 15385"/>
            </a:avLst>
          </a:prstGeom>
          <a:solidFill>
            <a:srgbClr val="1E3048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3.2746015592201804e+41" dist="2.183067706146787e+41" dir="2.72097792e+49">
              <a:srgbClr val="000000">
                <a:alpha val="2.5e+4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39912" y="1591056"/>
            <a:ext cx="21945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537192" y="1965960"/>
            <a:ext cx="0" cy="274320"/>
          </a:xfrm>
          <a:prstGeom prst="line">
            <a:avLst/>
          </a:prstGeom>
          <a:noFill/>
          <a:ln w="12700">
            <a:solidFill>
              <a:srgbClr val="3A86F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527048" y="2240280"/>
            <a:ext cx="9134856" cy="640080"/>
          </a:xfrm>
          <a:prstGeom prst="roundRect">
            <a:avLst>
              <a:gd name="adj" fmla="val 14286"/>
            </a:avLst>
          </a:prstGeom>
          <a:solidFill>
            <a:srgbClr val="1E3048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4.158743980209629e+45" dist="2.7724959868064195e+45" dir="1.6325867520000003e+54">
              <a:srgbClr val="000000">
                <a:alpha val="2.5e+5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83080" y="2450592"/>
            <a:ext cx="8641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/ React Frontend — Responsive Web App (Desktop + Mobile)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4476" y="2880360"/>
            <a:ext cx="0" cy="228600"/>
          </a:xfrm>
          <a:prstGeom prst="line">
            <a:avLst/>
          </a:prstGeom>
          <a:noFill/>
          <a:ln w="12700">
            <a:solidFill>
              <a:srgbClr val="06D6A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527048" y="3108960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1E3048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5.281604854866228e+49" dist="3.5210699032441527e+49" dir="9.795520512000002e+58">
              <a:srgbClr val="000000">
                <a:alpha val="2.5e+59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55064" y="321868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A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55064" y="3474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DB + Sync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 built-in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updates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81728" y="3108960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1E3048"/>
          </a:solidFill>
          <a:ln w="12700">
            <a:solidFill>
              <a:srgbClr val="FFB703"/>
            </a:solidFill>
            <a:prstDash val="solid"/>
          </a:ln>
          <a:effectLst>
            <a:outerShdw sx="100000" sy="100000" kx="0" ky="0" algn="bl" rotWithShape="0" blurRad="6.70763816568011e+53" dist="4.471758777120074e+53" dir="5.877312307200001e+63">
              <a:srgbClr val="000000">
                <a:alpha val="2.5e+64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9744" y="321868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AI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9744" y="3474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AI Features: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Assistant·Composer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Summarizer·Q&amp;A·Risk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36408" y="3108960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1E3048"/>
          </a:solidFill>
          <a:ln w="12700">
            <a:solidFill>
              <a:srgbClr val="06D6A0"/>
            </a:solidFill>
            <a:prstDash val="solid"/>
          </a:ln>
          <a:effectLst>
            <a:outerShdw sx="100000" sy="100000" kx="0" ky="0" algn="bl" rotWithShape="0" blurRad="8.518700470413739e+57" dist="5.679133646942494e+57" dir="3.526387384320001e+68">
              <a:srgbClr val="000000">
                <a:alpha val="2.4999999999999998e+69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964424" y="3218688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+ Storage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64424" y="34747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Authentication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File Uploads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61688" y="3639312"/>
            <a:ext cx="3200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16368" y="3639312"/>
            <a:ext cx="3200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99048" y="4160520"/>
            <a:ext cx="0" cy="22860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527048" y="4389120"/>
            <a:ext cx="9134856" cy="502920"/>
          </a:xfrm>
          <a:prstGeom prst="roundRect">
            <a:avLst>
              <a:gd name="adj" fmla="val 10909"/>
            </a:avLst>
          </a:prstGeom>
          <a:solidFill>
            <a:srgbClr val="0A162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83080" y="4553712"/>
            <a:ext cx="8641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 Database (Real-time, Serverless) + Anthropic API (claude-sonnet-4-20250514)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789920" y="2103120"/>
            <a:ext cx="1188720" cy="2286000"/>
          </a:xfrm>
          <a:prstGeom prst="roundRect">
            <a:avLst>
              <a:gd name="adj" fmla="val 4615"/>
            </a:avLst>
          </a:prstGeom>
          <a:solidFill>
            <a:srgbClr val="1E3048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08792" y="2212848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908792" y="2487168"/>
            <a:ext cx="109728" cy="10972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073384" y="2478024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908792" y="2834640"/>
            <a:ext cx="109728" cy="1097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073384" y="2825496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Layer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908792" y="3182112"/>
            <a:ext cx="109728" cy="10972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073384" y="3172968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0908792" y="3529584"/>
            <a:ext cx="109728" cy="109728"/>
          </a:xfrm>
          <a:prstGeom prst="rect">
            <a:avLst/>
          </a:prstGeom>
          <a:solidFill>
            <a:srgbClr val="1E304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073384" y="3520440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AI-Powered Capabilities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550408" y="1005840"/>
            <a:ext cx="1097280" cy="0"/>
          </a:xfrm>
          <a:prstGeom prst="line">
            <a:avLst/>
          </a:prstGeom>
          <a:noFill/>
          <a:ln w="12700">
            <a:solidFill>
              <a:srgbClr val="3A8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54864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.081874959742545e+62" dist="7.212499731616968e+61" dir="2.1158324305920003e+73">
              <a:srgbClr val="000000">
                <a:alpha val="2.5e+7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150876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463040"/>
            <a:ext cx="411480" cy="41148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417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Conversational AI Assistant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792224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answers student questions in real time. Context-aware, academic-focused.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97280" y="2450592"/>
            <a:ext cx="1737360" cy="219456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487168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· 24/7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45352" y="1371600"/>
            <a:ext cx="54864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.373981198873032e+66" dist="9.15987465915355e+65" dir="1.2694994583552002e+78">
              <a:srgbClr val="000000">
                <a:alpha val="2.4999999999999997e+7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45352" y="1371600"/>
            <a:ext cx="54864" cy="1508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82512" y="1463040"/>
            <a:ext cx="411480" cy="4114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85432" y="14173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Composer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85432" y="1792224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posts, announcements, discussion replies. One click to polish any message.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85432" y="2450592"/>
            <a:ext cx="1737360" cy="219456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58584" y="2487168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Professors · Students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54864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.7449561225687507e+70" dist="1.1633040817125008e+70" dir="7.616996750131201e+82">
              <a:srgbClr val="000000">
                <a:alpha val="2.4999999999999996e+8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63240"/>
            <a:ext cx="54864" cy="150876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154680"/>
            <a:ext cx="411480" cy="4114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31089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Room Summarizer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97280" y="3483864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Condenses long discussion threads into structured summaries instantly.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97280" y="4142232"/>
            <a:ext cx="1737360" cy="219456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70432" y="4178808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Professors · Admins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45352" y="3063240"/>
            <a:ext cx="54864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2.2160942756623134e+74" dist="1.477396183774876e+74" dir="4.57019805007872e+87">
              <a:srgbClr val="000000">
                <a:alpha val="2.4999999999999996e+89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45352" y="3063240"/>
            <a:ext cx="54864" cy="15087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82512" y="3154680"/>
            <a:ext cx="411480" cy="41148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85432" y="31089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Base Q&amp;A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885432" y="3483864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ask questions; AI searches course knowledge base, returns cited answers.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885432" y="4142232"/>
            <a:ext cx="1737360" cy="219456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58584" y="4178808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· Learning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754880"/>
            <a:ext cx="54864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2.814439730091138e+78" dist="1.8762931533940924e+78" dir="2.742118830047232e+92">
              <a:srgbClr val="000000">
                <a:alpha val="2.4999999999999997e+94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754880"/>
            <a:ext cx="54864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4846320"/>
            <a:ext cx="411480" cy="4114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728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Deadline Risk Predictor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97280" y="5175504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students at risk of missing deadlines before it happens.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97280" y="5833872"/>
            <a:ext cx="1737360" cy="219456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70432" y="5870448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Professors · Early Warning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45352" y="4754880"/>
            <a:ext cx="548640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3.574338457215745e+82" dist="2.3828923048104974e+82" dir="1.6452712980283393e+97">
              <a:srgbClr val="000000">
                <a:alpha val="2.4999999999999996e+99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45352" y="4754880"/>
            <a:ext cx="54864" cy="15087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82512" y="4846320"/>
            <a:ext cx="411480" cy="4114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85432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Collaboration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885432" y="5175504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sync instantly via Convex WebSockets. No refresh. No lag. Ever.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885432" y="5833872"/>
            <a:ext cx="1737360" cy="219456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58584" y="5870448"/>
            <a:ext cx="15910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User Journey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550408" y="1005840"/>
            <a:ext cx="1097280" cy="0"/>
          </a:xfrm>
          <a:prstGeom prst="line">
            <a:avLst/>
          </a:prstGeom>
          <a:noFill/>
          <a:ln w="12700">
            <a:solidFill>
              <a:srgbClr val="3A8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011680"/>
            <a:ext cx="1508760" cy="1691640"/>
          </a:xfrm>
          <a:prstGeom prst="roundRect">
            <a:avLst>
              <a:gd name="adj" fmla="val 6061"/>
            </a:avLst>
          </a:prstGeom>
          <a:solidFill>
            <a:srgbClr val="1E3048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4.539409840663996e+86" dist="3.0262732271093317e+86" dir="9.871627788170037e+101">
              <a:srgbClr val="000000">
                <a:alpha val="2.4999999999999995e+10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6676" y="2139696"/>
            <a:ext cx="384048" cy="384048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6676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2615184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 Up / Log 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9992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Auth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/ Email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 seconds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2011680"/>
            <a:ext cx="1508760" cy="1691640"/>
          </a:xfrm>
          <a:prstGeom prst="roundRect">
            <a:avLst>
              <a:gd name="adj" fmla="val 6061"/>
            </a:avLst>
          </a:prstGeom>
          <a:solidFill>
            <a:srgbClr val="1E3048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5.765050497643275e+90" dist="3.8433669984288512e+90" dir="5.9229766729020215e+106">
              <a:srgbClr val="000000">
                <a:alpha val="2.4999999999999996e+10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19756" y="2139696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9756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67128" y="2615184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 a Course Room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48840" y="29992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link 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code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access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0" y="2011680"/>
            <a:ext cx="1508760" cy="1691640"/>
          </a:xfrm>
          <a:prstGeom prst="roundRect">
            <a:avLst>
              <a:gd name="adj" fmla="val 6061"/>
            </a:avLst>
          </a:prstGeom>
          <a:solidFill>
            <a:srgbClr val="1E3048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7.321614132006959e+94" dist="4.8810760880046414e+94" dir="3.553786003741213e+111">
              <a:srgbClr val="000000">
                <a:alpha val="2.4999999999999995e+11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02836" y="2139696"/>
            <a:ext cx="384048" cy="38404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2836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50208" y="2615184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 &amp; Collaborate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29992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discussions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teammates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23560" y="2011680"/>
            <a:ext cx="1508760" cy="1691640"/>
          </a:xfrm>
          <a:prstGeom prst="roundRect">
            <a:avLst>
              <a:gd name="adj" fmla="val 6061"/>
            </a:avLst>
          </a:prstGeom>
          <a:solidFill>
            <a:srgbClr val="1E3048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9.298449947648839e+98" dist="6.198966631765894e+98" dir="2.1322716022447277e+116">
              <a:srgbClr val="000000">
                <a:alpha val="2.4999999999999996e+11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85916" y="2139696"/>
            <a:ext cx="384048" cy="38404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5916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33288" y="2615184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the AI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15000" y="29992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question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responds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in-room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06640" y="2011680"/>
            <a:ext cx="1508760" cy="1691640"/>
          </a:xfrm>
          <a:prstGeom prst="roundRect">
            <a:avLst>
              <a:gd name="adj" fmla="val 6061"/>
            </a:avLst>
          </a:prstGeom>
          <a:solidFill>
            <a:srgbClr val="1E3048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1.1809031433514024e+103" dist="7.872687622342685e+102" dir="1.2793629613468366e+121">
              <a:srgbClr val="000000">
                <a:alpha val="2.5e+12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968996" y="2139696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68996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16368" y="2615184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Professor Reviews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8080" y="29992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 ready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chart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189720" y="2011680"/>
            <a:ext cx="1508760" cy="1691640"/>
          </a:xfrm>
          <a:prstGeom prst="roundRect">
            <a:avLst>
              <a:gd name="adj" fmla="val 6061"/>
            </a:avLst>
          </a:prstGeom>
          <a:solidFill>
            <a:srgbClr val="1E3048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1.499746992056281e+107" dist="9.998313280375211e+106" dir="7.67617776808102e+125">
              <a:srgbClr val="000000">
                <a:alpha val="2.4999999999999998e+129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752076" y="2139696"/>
            <a:ext cx="384048" cy="38404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52076" y="22448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99448" y="2615184"/>
            <a:ext cx="1289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Grows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281160" y="299923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saved to KB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students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too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01368" y="2816352"/>
            <a:ext cx="274320" cy="201168"/>
          </a:xfrm>
          <a:prstGeom prst="righ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84448" y="2816352"/>
            <a:ext cx="274320" cy="201168"/>
          </a:xfrm>
          <a:prstGeom prst="righ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67528" y="2816352"/>
            <a:ext cx="274320" cy="201168"/>
          </a:xfrm>
          <a:prstGeom prst="righ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50608" y="2816352"/>
            <a:ext cx="274320" cy="201168"/>
          </a:xfrm>
          <a:prstGeom prst="righ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33688" y="2816352"/>
            <a:ext cx="274320" cy="201168"/>
          </a:xfrm>
          <a:prstGeom prst="rightArrow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97764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1E3048"/>
          </a:solidFill>
          <a:ln w="12700">
            <a:solidFill>
              <a:srgbClr val="1E3048"/>
            </a:solidFill>
            <a:prstDash val="solid"/>
          </a:ln>
          <a:effectLst>
            <a:outerShdw sx="100000" sy="100000" kx="0" ky="0" algn="bl" rotWithShape="0" blurRad="1.904678679911477e+111" dist="1.2697857866076517e+111" dir="4.605706660848612e+130">
              <a:srgbClr val="000000">
                <a:alpha val="2.5e+134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3977640"/>
            <a:ext cx="54864" cy="118872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4169664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Path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8368" y="4480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question → AI answers → Composer drafts → KB updated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0" y="397764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1E3048"/>
          </a:solidFill>
          <a:ln w="12700">
            <a:solidFill>
              <a:srgbClr val="1E3048"/>
            </a:solidFill>
            <a:prstDash val="solid"/>
          </a:ln>
          <a:effectLst>
            <a:outerShdw sx="100000" sy="100000" kx="0" ky="0" algn="bl" rotWithShape="0" blurRad="2.418941923487576e+115" dist="1.6126279489917177e+115" dir="2.763423996509167e+135">
              <a:srgbClr val="000000">
                <a:alpha val="2.5e+139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400800" y="3977640"/>
            <a:ext cx="54864" cy="118872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01968" y="4169664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Path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01968" y="448056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dashboard → View AI Summary → Check Risk flags → Act early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Started in Under 5 Minutes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550408" y="1005840"/>
            <a:ext cx="1097280" cy="0"/>
          </a:xfrm>
          <a:prstGeom prst="line">
            <a:avLst/>
          </a:prstGeom>
          <a:noFill/>
          <a:ln w="12700">
            <a:solidFill>
              <a:srgbClr val="3A8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3.0720562428292216e+119" dist="2.0480374952194813e+119" dir="1.6580543979055002e+140">
              <a:srgbClr val="000000">
                <a:alpha val="2.5000000000000003e+14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65836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44168"/>
            <a:ext cx="347472" cy="347472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4475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30759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the app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536192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uniboard.ai in any browser — no install needed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3.9015114283931116e+123" dist="2.6010076189287412e+123" dir="9.948326387433002e+144">
              <a:srgbClr val="000000">
                <a:alpha val="2.5000000000000004e+14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029968"/>
            <a:ext cx="54864" cy="65836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093976"/>
            <a:ext cx="347472" cy="3474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94560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0574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your account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2860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Sign Up → university email → verified in seconds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79776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4.954919514059251e+127" dist="3.303279676039501e+127" dir="5.968995832459801e+149">
              <a:srgbClr val="000000">
                <a:alpha val="2.5000000000000003e+15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779776"/>
            <a:ext cx="54864" cy="6583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843784"/>
            <a:ext cx="347472" cy="34747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944368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28072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Join or create a room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035808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professor's room code OR click New Room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529584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6.2927477828552495e+131" dist="4.195165188570166e+131" dir="3.581397499475881e+154">
              <a:srgbClr val="000000">
                <a:alpha val="2.5000000000000004e+15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529584"/>
            <a:ext cx="54864" cy="6583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593592"/>
            <a:ext cx="347472" cy="3474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694176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35570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 your first message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3785616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discussion box → Enter → classmates see instantly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279392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7.991789684226167e+135" dist="5.327859789484111e+135" dir="2.1488384996855287e+159">
              <a:srgbClr val="000000">
                <a:alpha val="2.5000000000000003e+164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279392"/>
            <a:ext cx="54864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4343400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443984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1560" y="43068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the AI anything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1560" y="4535424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Ask AI → type question → Claude answers in the room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029200"/>
            <a:ext cx="57607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.0149572898967231e+140" dist="6.766381932644821e+139" dir="1.2893030998113172e+164">
              <a:srgbClr val="000000">
                <a:alpha val="2.5000000000000004e+169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5029200"/>
            <a:ext cx="54864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" y="5093208"/>
            <a:ext cx="347472" cy="347472"/>
          </a:xfrm>
          <a:prstGeom prst="ellipse">
            <a:avLst/>
          </a:prstGeom>
          <a:solidFill>
            <a:srgbClr val="0D1B2A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5193792"/>
            <a:ext cx="3474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51560" y="50566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You're live!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51560" y="5285232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Explore: Smart Composer, Summaries, Knowledge Base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1280160"/>
            <a:ext cx="5212080" cy="5212080"/>
          </a:xfrm>
          <a:prstGeom prst="roundRect">
            <a:avLst>
              <a:gd name="adj" fmla="val 263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.2889957581688384e+144" dist="8.593305054458923e+143" dir="7.735818598867904e+168">
              <a:srgbClr val="000000">
                <a:alpha val="2.5000000000000003e+174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492240" y="1280160"/>
            <a:ext cx="5212080" cy="347472"/>
          </a:xfrm>
          <a:prstGeom prst="rect">
            <a:avLst/>
          </a:prstGeom>
          <a:solidFill>
            <a:srgbClr val="1E3048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29400" y="1389888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12280" y="1389888"/>
            <a:ext cx="128016" cy="128016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95160" y="1389888"/>
            <a:ext cx="128016" cy="12801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80960" y="1353312"/>
            <a:ext cx="2560320" cy="201168"/>
          </a:xfrm>
          <a:prstGeom prst="roundRect">
            <a:avLst>
              <a:gd name="adj" fmla="val 2727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80960" y="1408176"/>
            <a:ext cx="2560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uniboard.ai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92240" y="1627632"/>
            <a:ext cx="1051560" cy="4864608"/>
          </a:xfrm>
          <a:prstGeom prst="rect">
            <a:avLst/>
          </a:prstGeom>
          <a:solidFill>
            <a:srgbClr val="1E3048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1691640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537960" y="1965960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CS 101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537960" y="2194560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Math 201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37960" y="2423160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Bio 301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537960" y="2697480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New Room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635240" y="1691640"/>
            <a:ext cx="2103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101 — Discussion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635240" y="2057400"/>
            <a:ext cx="3291840" cy="411480"/>
          </a:xfrm>
          <a:prstGeom prst="roundRect">
            <a:avLst>
              <a:gd name="adj" fmla="val 22222"/>
            </a:avLst>
          </a:prstGeom>
          <a:solidFill>
            <a:srgbClr val="1E3048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72400" y="2194560"/>
            <a:ext cx="29718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Ahmed: Can someone explain Big-O?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635240" y="2606040"/>
            <a:ext cx="3566160" cy="640080"/>
          </a:xfrm>
          <a:prstGeom prst="roundRect">
            <a:avLst>
              <a:gd name="adj" fmla="val 14286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90688" y="27889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Big-O describes worst-case time complexity of an algorithm. Example: O(n) means...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635240" y="5989320"/>
            <a:ext cx="3200400" cy="274320"/>
          </a:xfrm>
          <a:prstGeom prst="roundRect">
            <a:avLst>
              <a:gd name="adj" fmla="val 26667"/>
            </a:avLst>
          </a:prstGeom>
          <a:solidFill>
            <a:srgbClr val="1E3048"/>
          </a:solidFill>
          <a:ln w="12700">
            <a:solidFill>
              <a:srgbClr val="1E304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4112" y="6071616"/>
            <a:ext cx="28803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or message the room…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0881360" y="5989320"/>
            <a:ext cx="256032" cy="256032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0" y="653796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UniBoard AI interface — works in any browser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&amp; What's Next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550408" y="1005840"/>
            <a:ext cx="1097280" cy="0"/>
          </a:xfrm>
          <a:prstGeom prst="line">
            <a:avLst/>
          </a:prstGeom>
          <a:noFill/>
          <a:ln w="12700">
            <a:solidFill>
              <a:srgbClr val="3A8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E3048"/>
          </a:solidFill>
          <a:ln w="12700">
            <a:solidFill>
              <a:srgbClr val="1E3048"/>
            </a:solidFill>
            <a:prstDash val="solid"/>
          </a:ln>
          <a:effectLst>
            <a:outerShdw sx="100000" sy="100000" kx="0" ky="0" algn="bl" rotWithShape="0" blurRad="1.6370246128744248e+148" dist="1.0913497419162833e+148" dir="4.6414911593207425e+173">
              <a:srgbClr val="000000">
                <a:alpha val="2.5000000000000003e+17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A86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AI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21792" y="210312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integrated AI capabilities at launch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00984" y="128016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E3048"/>
          </a:solidFill>
          <a:ln w="12700">
            <a:solidFill>
              <a:srgbClr val="1E3048"/>
            </a:solidFill>
            <a:prstDash val="solid"/>
          </a:ln>
          <a:effectLst>
            <a:outerShdw sx="100000" sy="100000" kx="0" ky="0" algn="bl" rotWithShape="0" blurRad="2.0790212583505195e+152" dist="1.38601417223368e+152" dir="2.7848946955924455e+178">
              <a:srgbClr val="000000">
                <a:alpha val="2.5000000000000003e+18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00984" y="1280160"/>
            <a:ext cx="265176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00984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&lt;1s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465576" y="210312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 latency via Convex WebSockets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44768" y="128016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E3048"/>
          </a:solidFill>
          <a:ln w="12700">
            <a:solidFill>
              <a:srgbClr val="1E3048"/>
            </a:solidFill>
            <a:prstDash val="solid"/>
          </a:ln>
          <a:effectLst>
            <a:outerShdw sx="100000" sy="100000" kx="0" ky="0" algn="bl" rotWithShape="0" blurRad="2.64035699810516e+156" dist="1.7602379987367734e+156" dir="1.6709368173554673e+183">
              <a:srgbClr val="000000">
                <a:alpha val="2.5e+189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44768" y="1280160"/>
            <a:ext cx="2651760" cy="7315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309360" y="210312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— no installs, no friction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88552" y="1280160"/>
            <a:ext cx="2651760" cy="1691640"/>
          </a:xfrm>
          <a:prstGeom prst="roundRect">
            <a:avLst>
              <a:gd name="adj" fmla="val 6486"/>
            </a:avLst>
          </a:prstGeom>
          <a:solidFill>
            <a:srgbClr val="1E3048"/>
          </a:solidFill>
          <a:ln w="12700">
            <a:solidFill>
              <a:srgbClr val="1E3048"/>
            </a:solidFill>
            <a:prstDash val="solid"/>
          </a:ln>
          <a:effectLst>
            <a:outerShdw sx="100000" sy="100000" kx="0" ky="0" algn="bl" rotWithShape="0" blurRad="3.353253387593553e+160" dist="2.235502258395702e+160" dir="1.0025620904132804e+188">
              <a:srgbClr val="000000">
                <a:alpha val="2.5000000000000003e+19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88552" y="1280160"/>
            <a:ext cx="265176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88552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∞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9153144" y="210312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grows with every semester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11247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1124712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343400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71416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487375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Launch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7160" y="5102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rooms, 5 AI features, Auth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931920" y="4343400"/>
            <a:ext cx="457200" cy="457200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4471416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11880" y="487375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8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v1.5 — Q3 2025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154680" y="5102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app, LMS sync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49440" y="4343400"/>
            <a:ext cx="457200" cy="457200"/>
          </a:xfrm>
          <a:prstGeom prst="ellipse">
            <a:avLst/>
          </a:prstGeom>
          <a:solidFill>
            <a:srgbClr val="1E3048">
              <a:alpha val="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4471416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29400" y="487375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— Q1 2026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5102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Multi-university, Analytics API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966960" y="4343400"/>
            <a:ext cx="457200" cy="457200"/>
          </a:xfrm>
          <a:prstGeom prst="ellipse">
            <a:avLst/>
          </a:prstGeom>
          <a:solidFill>
            <a:srgbClr val="1E3048">
              <a:alpha val="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66960" y="4471416"/>
            <a:ext cx="4572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46920" y="4873752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 — 2026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89720" y="51023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grading, Institutional licensing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6172200"/>
            <a:ext cx="11247120" cy="502920"/>
          </a:xfrm>
          <a:prstGeom prst="roundRect">
            <a:avLst>
              <a:gd name="adj" fmla="val 18182"/>
            </a:avLst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  <a:effectLst>
            <a:outerShdw sx="100000" sy="100000" kx="0" ky="0" algn="bl" rotWithShape="0" blurRad="4.2586318022438123e+164" dist="2.8390878681625417e+164" dir="6.015372542479682e+192">
              <a:srgbClr val="000000">
                <a:alpha val="2.5000000000000003e+199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31520" y="6327648"/>
            <a:ext cx="10698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UniBoard AI today → uniboard.ai  |  Questions? hello@uniboard.ai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UniBoard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UniBoard AI</dc:title>
  <dc:subject>UniBoard AI presentation</dc:subject>
  <dc:creator>OpenAI Codex</dc:creator>
  <cp:lastModifiedBy>OpenAI Codex</cp:lastModifiedBy>
  <cp:revision>1</cp:revision>
  <dcterms:created xsi:type="dcterms:W3CDTF">2026-05-17T14:38:19Z</dcterms:created>
  <dcterms:modified xsi:type="dcterms:W3CDTF">2026-05-17T14:38:19Z</dcterms:modified>
</cp:coreProperties>
</file>